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59669"/>
                </a:solidFill>
                <a:latin typeface="Pretendard"/>
              </a:rPr>
              <a:t>PROOFOLIO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1">
                <a:solidFill>
                  <a:srgbClr val="0B1220"/>
                </a:solidFill>
                <a:latin typeface="Pretendard"/>
              </a:rPr>
              <a:t>검증 가능한</a:t>
            </a:r>
          </a:p>
          <a:p>
            <a:pPr algn="l">
              <a:lnSpc>
                <a:spcPct val="105000"/>
              </a:lnSpc>
            </a:pPr>
            <a:r>
              <a:rPr sz="6400" b="1">
                <a:solidFill>
                  <a:srgbClr val="0B1220"/>
                </a:solidFill>
                <a:latin typeface="Pretendard"/>
              </a:rPr>
              <a:t>디지털 증명서.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976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3F4757"/>
                </a:solidFill>
                <a:latin typeface="Pretendard"/>
              </a:rPr>
              <a:t>PDF가 아니라 발급기관의 온체인 서명을 믿는다.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978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6B7280"/>
                </a:solidFill>
                <a:latin typeface="Pretendard"/>
              </a:rPr>
              <a:t>이름 · 학번 · 2026.06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059669"/>
                </a:solidFill>
                <a:latin typeface="Pretendard"/>
              </a:rPr>
              <a:t>https://proofolio.pages.dev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59669"/>
                </a:solidFill>
                <a:latin typeface="Pretendard"/>
              </a:rPr>
              <a:t>01 ·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9728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200" b="1">
                <a:solidFill>
                  <a:srgbClr val="0B1220"/>
                </a:solidFill>
                <a:latin typeface="Pretendard"/>
              </a:rPr>
              <a:t>가짜 이력서,</a:t>
            </a:r>
          </a:p>
          <a:p>
            <a:pPr algn="l">
              <a:lnSpc>
                <a:spcPct val="110000"/>
              </a:lnSpc>
            </a:pPr>
            <a:r>
              <a:rPr sz="5200" b="1">
                <a:solidFill>
                  <a:srgbClr val="0B1220"/>
                </a:solidFill>
                <a:latin typeface="Pretendard"/>
              </a:rPr>
              <a:t>위조 수료증.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4023360"/>
            <a:ext cx="10698480" cy="8000"/>
          </a:xfrm>
          <a:prstGeom prst="rect">
            <a:avLst/>
          </a:prstGeom>
          <a:solidFill>
            <a:srgbClr val="E6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3891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3F4757"/>
                </a:solidFill>
                <a:latin typeface="Pretendard"/>
              </a:rPr>
              <a:t>· 채용 담당자는 제출된 PDF를 그대로 믿거나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3F4757"/>
                </a:solidFill>
                <a:latin typeface="Pretendard"/>
              </a:rPr>
              <a:t>· 발급기관에 일일이 전화해서 확인해야 한다.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0B1220"/>
                </a:solidFill>
                <a:latin typeface="Pretendard"/>
              </a:rPr>
              <a:t>매년 반복되는, 돈이 걸린 진짜 문제.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59669"/>
                </a:solidFill>
                <a:latin typeface="Pretendard"/>
              </a:rPr>
              <a:t>02 · SOLUTION · WHY BLOCKCHAIN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9728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B1220"/>
                </a:solidFill>
                <a:latin typeface="Pretendard"/>
              </a:rPr>
              <a:t>PDF가 아니라</a:t>
            </a:r>
          </a:p>
          <a:p>
            <a:pPr algn="l">
              <a:lnSpc>
                <a:spcPct val="115000"/>
              </a:lnSpc>
            </a:pPr>
            <a:r>
              <a:rPr sz="4000" b="1">
                <a:solidFill>
                  <a:srgbClr val="0B1220"/>
                </a:solidFill>
                <a:latin typeface="Pretendard"/>
              </a:rPr>
              <a:t>발급기관의 온체인 서명을 믿는다.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0"/>
            <a:ext cx="10698480" cy="8000"/>
          </a:xfrm>
          <a:prstGeom prst="rect">
            <a:avLst/>
          </a:prstGeom>
          <a:solidFill>
            <a:srgbClr val="E6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6B7280"/>
                </a:solidFill>
                <a:latin typeface="Pretendard"/>
              </a:rPr>
              <a:t>기존 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3F4757"/>
                </a:solidFill>
                <a:latin typeface="Pretendard"/>
              </a:rPr>
              <a:t>운영자가 기록을 몰래 수정 가능 →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3F4757"/>
                </a:solidFill>
                <a:latin typeface="Pretendard"/>
              </a:rPr>
              <a:t>검증이 결국 '운영자 신뢰 게임'으로 회귀.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4206240"/>
            <a:ext cx="52120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>
                <a:solidFill>
                  <a:srgbClr val="059669"/>
                </a:solidFill>
                <a:latin typeface="Pretendard"/>
              </a:rPr>
              <a:t>블록체인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4572000"/>
            <a:ext cx="5212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0B1220"/>
                </a:solidFill>
                <a:latin typeface="Pretendard"/>
              </a:rPr>
              <a:t>✓  운영자도 못 바꾼다.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5029200"/>
            <a:ext cx="5212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0B1220"/>
                </a:solidFill>
                <a:latin typeface="Pretendard"/>
              </a:rPr>
              <a:t>✓  Etherscan에서 누구나 독립 검증.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5486400"/>
            <a:ext cx="52120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0B1220"/>
                </a:solidFill>
                <a:latin typeface="Pretendard"/>
              </a:rPr>
              <a:t>✓  파일 한 글자만 바뀌어도 해시 불일치.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59669"/>
                </a:solidFill>
                <a:latin typeface="Pretendard"/>
              </a:rPr>
              <a:t>03 ·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B1220"/>
                </a:solidFill>
                <a:latin typeface="Pretendard"/>
              </a:rPr>
              <a:t>발급 영상 → 라이브 검증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81047" y="2011680"/>
            <a:ext cx="8229600" cy="4114800"/>
          </a:xfrm>
          <a:prstGeom prst="roundRect">
            <a:avLst/>
          </a:prstGeom>
          <a:solidFill>
            <a:srgbClr val="F1F3F7"/>
          </a:solidFill>
          <a:ln w="12700">
            <a:solidFill>
              <a:srgbClr val="E6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ctr"/>
            <a:r>
              <a:rPr sz="1800" b="1">
                <a:solidFill>
                  <a:srgbClr val="6B7280"/>
                </a:solidFill>
                <a:latin typeface="Pretendard"/>
              </a:rPr>
              <a:t>▶  발급 흐름 영상</a:t>
            </a:r>
          </a:p>
          <a:p>
            <a:pPr algn="ctr">
              <a:spcBef>
                <a:spcPts val="600"/>
              </a:spcBef>
            </a:pPr>
            <a:r>
              <a:rPr sz="1000">
                <a:solidFill>
                  <a:srgbClr val="6B7280"/>
                </a:solidFill>
                <a:latin typeface="Pretendard"/>
              </a:rPr>
              <a:t>이 자리에 .mov 파일을 드래그 (자동재생, 음소거, 15~20초)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6B7280"/>
                </a:solidFill>
                <a:latin typeface="Pretendard"/>
              </a:rPr>
              <a:t>영상 자동재생 후 → 브라우저로 전환해 라이브 검증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59669"/>
                </a:solidFill>
                <a:latin typeface="Pretendard"/>
              </a:rPr>
              <a:t>04 · 그 외 화면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0B1220"/>
                </a:solidFill>
                <a:latin typeface="Pretendard"/>
              </a:rPr>
              <a:t>관리자 · 발급기관 · 보유자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830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3F4757"/>
                </a:solidFill>
                <a:latin typeface="Pretendard"/>
              </a:rPr>
              <a:t>검증 외에도 다음 화면들이 같은 디자인 시스템으로 구현되어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6587" y="2743200"/>
            <a:ext cx="3520440" cy="2743200"/>
          </a:xfrm>
          <a:prstGeom prst="roundRect">
            <a:avLst/>
          </a:prstGeom>
          <a:solidFill>
            <a:srgbClr val="F1F3F7"/>
          </a:solidFill>
          <a:ln w="12700">
            <a:solidFill>
              <a:srgbClr val="E6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ctr"/>
            <a:r>
              <a:rPr sz="1800" b="1">
                <a:solidFill>
                  <a:srgbClr val="6B7280"/>
                </a:solidFill>
                <a:latin typeface="Pretendard"/>
              </a:rPr>
              <a:t>관리자 · /admin</a:t>
            </a:r>
          </a:p>
          <a:p>
            <a:pPr algn="ctr">
              <a:spcBef>
                <a:spcPts val="600"/>
              </a:spcBef>
            </a:pPr>
            <a:r>
              <a:rPr sz="1000">
                <a:solidFill>
                  <a:srgbClr val="6B7280"/>
                </a:solidFill>
                <a:latin typeface="Pretendard"/>
              </a:rPr>
              <a:t>스샷을 이 자리에 드래그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6587" y="562356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Pretendard"/>
              </a:rPr>
              <a:t>발급기관 등록 · 활성 관리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5627" y="2743200"/>
            <a:ext cx="3520440" cy="2743200"/>
          </a:xfrm>
          <a:prstGeom prst="roundRect">
            <a:avLst/>
          </a:prstGeom>
          <a:solidFill>
            <a:srgbClr val="F1F3F7"/>
          </a:solidFill>
          <a:ln w="12700">
            <a:solidFill>
              <a:srgbClr val="E6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ctr"/>
            <a:r>
              <a:rPr sz="1800" b="1">
                <a:solidFill>
                  <a:srgbClr val="6B7280"/>
                </a:solidFill>
                <a:latin typeface="Pretendard"/>
              </a:rPr>
              <a:t>발급 · /issue</a:t>
            </a:r>
          </a:p>
          <a:p>
            <a:pPr algn="ctr">
              <a:spcBef>
                <a:spcPts val="600"/>
              </a:spcBef>
            </a:pPr>
            <a:r>
              <a:rPr sz="1000">
                <a:solidFill>
                  <a:srgbClr val="6B7280"/>
                </a:solidFill>
                <a:latin typeface="Pretendard"/>
              </a:rPr>
              <a:t>스샷을 이 자리에 드래그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35627" y="562356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Pretendard"/>
              </a:rPr>
              <a:t>보유자에게 증명서 발급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84667" y="2743200"/>
            <a:ext cx="3520440" cy="2743200"/>
          </a:xfrm>
          <a:prstGeom prst="roundRect">
            <a:avLst/>
          </a:prstGeom>
          <a:solidFill>
            <a:srgbClr val="F1F3F7"/>
          </a:solidFill>
          <a:ln w="12700">
            <a:solidFill>
              <a:srgbClr val="E6E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254000" bIns="254000"/>
          <a:lstStyle/>
          <a:p>
            <a:pPr algn="ctr"/>
            <a:r>
              <a:rPr sz="1800" b="1">
                <a:solidFill>
                  <a:srgbClr val="6B7280"/>
                </a:solidFill>
                <a:latin typeface="Pretendard"/>
              </a:rPr>
              <a:t>보유자 · /credentials</a:t>
            </a:r>
          </a:p>
          <a:p>
            <a:pPr algn="ctr">
              <a:spcBef>
                <a:spcPts val="600"/>
              </a:spcBef>
            </a:pPr>
            <a:r>
              <a:rPr sz="1000">
                <a:solidFill>
                  <a:srgbClr val="6B7280"/>
                </a:solidFill>
                <a:latin typeface="Pretendard"/>
              </a:rPr>
              <a:t>스샷을 이 자리에 드래그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84667" y="562356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>
                <a:solidFill>
                  <a:srgbClr val="6B7280"/>
                </a:solidFill>
                <a:latin typeface="Pretendard"/>
              </a:rPr>
              <a:t>받은 증명서 보기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59669"/>
                </a:solidFill>
                <a:latin typeface="Pretendard"/>
              </a:rPr>
              <a:t>05 · ARCHITECTURE &amp;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0B1220"/>
                </a:solidFill>
                <a:latin typeface="Pretendard"/>
              </a:rPr>
              <a:t>단순한 데모가 아닙니다.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3172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3F4757"/>
                </a:solidFill>
                <a:latin typeface="Menlo"/>
              </a:rPr>
              <a:t>[발급기관 지갑]  ─ issueCredential ─▶  [Proofolio · Sepolia]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3F4757"/>
                </a:solidFill>
                <a:latin typeface="Menlo"/>
              </a:rPr>
              <a:t>                                                │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3F4757"/>
                </a:solidFill>
                <a:latin typeface="Menlo"/>
              </a:rPr>
              <a:t>                                                ▼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3F4757"/>
                </a:solidFill>
                <a:latin typeface="Menlo"/>
              </a:rPr>
              <a:t>                                       [소울바운드 ERC-721]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3F4757"/>
                </a:solidFill>
                <a:latin typeface="Menlo"/>
              </a:rPr>
              <a:t>                                          (보유자 지갑)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3F4757"/>
                </a:solidFill>
                <a:latin typeface="Menlo"/>
              </a:rPr>
              <a:t>                                                │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3F4757"/>
                </a:solidFill>
                <a:latin typeface="Menlo"/>
              </a:rPr>
              <a:t>          (지갑 없이) ◀─ verify(tokenId) + keccak256 ─┘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3F4757"/>
                </a:solidFill>
                <a:latin typeface="Menlo"/>
              </a:rPr>
              <a:t>                       검증자가 직접 RPC 호출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892040"/>
            <a:ext cx="10698480" cy="8000"/>
          </a:xfrm>
          <a:prstGeom prst="rect">
            <a:avLst/>
          </a:prstGeom>
          <a:solidFill>
            <a:srgbClr val="E6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5120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0B1220"/>
                </a:solidFill>
                <a:latin typeface="Pretendard"/>
              </a:rPr>
              <a:t>·  ERC-721 + Ownable2Step + 소울바운드 (_update mint-only)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486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0B1220"/>
                </a:solidFill>
                <a:latin typeface="Pretendard"/>
              </a:rPr>
              <a:t>·  Hardhat 단위 테스트 17개 — 정상·엣지·보안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0B1220"/>
                </a:solidFill>
                <a:latin typeface="Pretendard"/>
              </a:rPr>
              <a:t>·  Etherscan ✅ Verified — 누구나 소스코드 확인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0B1220"/>
                </a:solidFill>
                <a:latin typeface="Pretendard"/>
              </a:rPr>
              <a:t>·  한계: 발급 사실만 보장. 기관 정당성은 별도 신뢰 앵커.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59669"/>
                </a:solidFill>
                <a:latin typeface="Pretendard"/>
              </a:rPr>
              <a:t>06 · VIBE CODING · 노하우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>
                <a:solidFill>
                  <a:srgbClr val="0B1220"/>
                </a:solidFill>
                <a:latin typeface="Pretendard"/>
              </a:rPr>
              <a:t>AI로 어떻게 만들었나.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059669"/>
                </a:solidFill>
                <a:latin typeface="Pretendard"/>
              </a:rPr>
              <a:t>01  문서 먼저, 코드 나중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834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3F4757"/>
                </a:solidFill>
                <a:latin typeface="Pretendard"/>
              </a:rPr>
              <a:t>PRD / SRS 1000줄을 AI와 같이 작성. AGENTS.md 로 규칙 박제.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290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059669"/>
                </a:solidFill>
                <a:latin typeface="Pretendard"/>
              </a:rPr>
              <a:t>02  Phase로 잘게 (10단계)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94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3F4757"/>
                </a:solidFill>
                <a:latin typeface="Pretendard"/>
              </a:rPr>
              <a:t>단계마다 검증·커밋·1줄 회고. 커밋 히스토리가 곧 워크플로 증거.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89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059669"/>
                </a:solidFill>
                <a:latin typeface="Pretendard"/>
              </a:rPr>
              <a:t>03  AI 코드 ≠ 신뢰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54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3F4757"/>
                </a:solidFill>
                <a:latin typeface="Pretendard"/>
              </a:rPr>
              <a:t>Hardhat 테스트 통과해야 신뢰. 실제로 AI deploy 스크립트 버그 잡아냄.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3492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059669"/>
                </a:solidFill>
                <a:latin typeface="Pretendard"/>
              </a:rPr>
              <a:t>04  토큰 분업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715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3F4757"/>
                </a:solidFill>
                <a:latin typeface="Pretendard"/>
              </a:rPr>
              <a:t>기획·디자인·보안 리뷰 = Opus / 반복 구현 = Codex.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263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6B7280"/>
                </a:solidFill>
                <a:latin typeface="Pretendard"/>
              </a:rPr>
              <a:t>AI는 빠른 손, 사람은 기준과 검증.   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