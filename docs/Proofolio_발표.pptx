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PROOFOLIO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>
                <a:solidFill>
                  <a:srgbClr val="0B1220"/>
                </a:solidFill>
                <a:latin typeface="Pretendard"/>
              </a:rPr>
              <a:t>검증 가능한</a:t>
            </a:r>
          </a:p>
          <a:p>
            <a:pPr algn="l">
              <a:lnSpc>
                <a:spcPct val="105000"/>
              </a:lnSpc>
            </a:pPr>
            <a:r>
              <a:rPr sz="6400" b="1">
                <a:solidFill>
                  <a:srgbClr val="0B1220"/>
                </a:solidFill>
                <a:latin typeface="Pretendard"/>
              </a:rPr>
              <a:t>디지털 증명서.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97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3F4757"/>
                </a:solidFill>
                <a:latin typeface="Pretendard"/>
              </a:rPr>
              <a:t>PDF가 아니라 발급기관의 온체인 서명을 믿는다.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97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Pretendard"/>
              </a:rPr>
              <a:t>이름 · 학번 · 2026.06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59669"/>
                </a:solidFill>
                <a:latin typeface="Pretendard"/>
              </a:rPr>
              <a:t>https://proofolio.pages.dev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200" b="1">
                <a:solidFill>
                  <a:srgbClr val="0B1220"/>
                </a:solidFill>
                <a:latin typeface="Pretendard"/>
              </a:rPr>
              <a:t>가짜 이력서,</a:t>
            </a:r>
          </a:p>
          <a:p>
            <a:pPr algn="l">
              <a:lnSpc>
                <a:spcPct val="110000"/>
              </a:lnSpc>
            </a:pPr>
            <a:r>
              <a:rPr sz="5200" b="1">
                <a:solidFill>
                  <a:srgbClr val="0B1220"/>
                </a:solidFill>
                <a:latin typeface="Pretendard"/>
              </a:rPr>
              <a:t>위조 수료증.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023360"/>
            <a:ext cx="10698480" cy="8000"/>
          </a:xfrm>
          <a:prstGeom prst="rect">
            <a:avLst/>
          </a:prstGeom>
          <a:solidFill>
            <a:srgbClr val="E6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3F4757"/>
                </a:solidFill>
                <a:latin typeface="Pretendard"/>
              </a:rPr>
              <a:t>· 채용 담당자는 제출된 PDF를 그대로 믿거나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3F4757"/>
                </a:solidFill>
                <a:latin typeface="Pretendard"/>
              </a:rPr>
              <a:t>· 발급기관에 일일이 전화해서 확인해야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B1220"/>
                </a:solidFill>
                <a:latin typeface="Pretendard"/>
              </a:rPr>
              <a:t>매년 반복되는, 돈이 걸린 진짜 문제.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02 · SOLUTION · WHY BLOCKCHAIN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B1220"/>
                </a:solidFill>
                <a:latin typeface="Pretendard"/>
              </a:rPr>
              <a:t>PDF가 아니라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B1220"/>
                </a:solidFill>
                <a:latin typeface="Pretendard"/>
              </a:rPr>
              <a:t>발급기관의 온체인 서명을 믿는다.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0"/>
            <a:ext cx="10698480" cy="8000"/>
          </a:xfrm>
          <a:prstGeom prst="rect">
            <a:avLst/>
          </a:prstGeom>
          <a:solidFill>
            <a:srgbClr val="E6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6B7280"/>
                </a:solidFill>
                <a:latin typeface="Pretendard"/>
              </a:rPr>
              <a:t>기존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3F4757"/>
                </a:solidFill>
                <a:latin typeface="Pretendard"/>
              </a:rPr>
              <a:t>운영자가 기록을 몰래 수정 가능 →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F4757"/>
                </a:solidFill>
                <a:latin typeface="Pretendard"/>
              </a:rPr>
              <a:t>검증이 결국 '운영자 신뢰 게임'으로 회귀.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2062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59669"/>
                </a:solidFill>
                <a:latin typeface="Pretendard"/>
              </a:rPr>
              <a:t>블록체인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57200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B1220"/>
                </a:solidFill>
                <a:latin typeface="Pretendard"/>
              </a:rPr>
              <a:t>✓  운영자도 못 바꾼다.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502920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B1220"/>
                </a:solidFill>
                <a:latin typeface="Pretendard"/>
              </a:rPr>
              <a:t>✓  Etherscan에서 누구나 독립 검증.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548640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B1220"/>
                </a:solidFill>
                <a:latin typeface="Pretendard"/>
              </a:rPr>
              <a:t>✓  파일 한 글자만 바뀌어도 해시 불일치.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03 · DEMO · ① 발급기관 등록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0B1220"/>
                </a:solidFill>
                <a:latin typeface="Pretendard"/>
              </a:rPr>
              <a:t>관리자가 새 발급기관을 등록합니다.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81047" y="2011680"/>
            <a:ext cx="8229600" cy="4114800"/>
          </a:xfrm>
          <a:prstGeom prst="roundRect">
            <a:avLst/>
          </a:prstGeom>
          <a:solidFill>
            <a:srgbClr val="F1F3F7"/>
          </a:solidFill>
          <a:ln w="12700">
            <a:solidFill>
              <a:srgbClr val="E6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ctr"/>
            <a:r>
              <a:rPr sz="1800" b="1">
                <a:solidFill>
                  <a:srgbClr val="6B7280"/>
                </a:solidFill>
                <a:latin typeface="Pretendard"/>
              </a:rPr>
              <a:t>▶  영상 1</a:t>
            </a:r>
          </a:p>
          <a:p>
            <a:pPr algn="ctr">
              <a:spcBef>
                <a:spcPts val="600"/>
              </a:spcBef>
            </a:pPr>
            <a:r>
              <a:rPr sz="1000">
                <a:solidFill>
                  <a:srgbClr val="6B7280"/>
                </a:solidFill>
                <a:latin typeface="Pretendard"/>
              </a:rPr>
              <a:t>Admin이 발급기관 등록하는 .mov 드래그 · 자동재생 · 음소거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03 · DEMO · ② 증명서 발급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0B1220"/>
                </a:solidFill>
                <a:latin typeface="Pretendard"/>
              </a:rPr>
              <a:t>발급기관이 학생에게 증명서를 발급합니다.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81047" y="2011680"/>
            <a:ext cx="8229600" cy="4114800"/>
          </a:xfrm>
          <a:prstGeom prst="roundRect">
            <a:avLst/>
          </a:prstGeom>
          <a:solidFill>
            <a:srgbClr val="F1F3F7"/>
          </a:solidFill>
          <a:ln w="12700">
            <a:solidFill>
              <a:srgbClr val="E6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ctr"/>
            <a:r>
              <a:rPr sz="1800" b="1">
                <a:solidFill>
                  <a:srgbClr val="6B7280"/>
                </a:solidFill>
                <a:latin typeface="Pretendard"/>
              </a:rPr>
              <a:t>▶  영상 2</a:t>
            </a:r>
          </a:p>
          <a:p>
            <a:pPr algn="ctr">
              <a:spcBef>
                <a:spcPts val="600"/>
              </a:spcBef>
            </a:pPr>
            <a:r>
              <a:rPr sz="1000">
                <a:solidFill>
                  <a:srgbClr val="6B7280"/>
                </a:solidFill>
                <a:latin typeface="Pretendard"/>
              </a:rPr>
              <a:t>지갑 주소·파일 입력 → 발급 .mov 드래그 · 자동재생 · 음소거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03 · DEMO · ③ 수령 +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0B1220"/>
                </a:solidFill>
                <a:latin typeface="Pretendard"/>
              </a:rPr>
              <a:t>학생이 자기 증명서와 QR을 확인합니다.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81047" y="2011680"/>
            <a:ext cx="8229600" cy="4114800"/>
          </a:xfrm>
          <a:prstGeom prst="roundRect">
            <a:avLst/>
          </a:prstGeom>
          <a:solidFill>
            <a:srgbClr val="F1F3F7"/>
          </a:solidFill>
          <a:ln w="12700">
            <a:solidFill>
              <a:srgbClr val="E6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ctr"/>
            <a:r>
              <a:rPr sz="1800" b="1">
                <a:solidFill>
                  <a:srgbClr val="6B7280"/>
                </a:solidFill>
                <a:latin typeface="Pretendard"/>
              </a:rPr>
              <a:t>▶  영상 3</a:t>
            </a:r>
          </a:p>
          <a:p>
            <a:pPr algn="ctr">
              <a:spcBef>
                <a:spcPts val="600"/>
              </a:spcBef>
            </a:pPr>
            <a:r>
              <a:rPr sz="1000">
                <a:solidFill>
                  <a:srgbClr val="6B7280"/>
                </a:solidFill>
                <a:latin typeface="Pretendard"/>
              </a:rPr>
              <a:t>보유자 로그인 → 내 증명서 + QR + 검증 페이지 이동 .mov 드래그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03 · DEMO · ④ 검증 (라이브)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0B1220"/>
                </a:solidFill>
                <a:latin typeface="Pretendard"/>
              </a:rPr>
              <a:t>원본 파일 대조 →</a:t>
            </a:r>
          </a:p>
          <a:p>
            <a:pPr algn="l">
              <a:lnSpc>
                <a:spcPct val="115000"/>
              </a:lnSpc>
            </a:pPr>
            <a:r>
              <a:rPr sz="4400" b="1">
                <a:solidFill>
                  <a:srgbClr val="0B1220"/>
                </a:solidFill>
                <a:latin typeface="Pretendard"/>
              </a:rPr>
              <a:t>위변조 즉시 감지.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6634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59669"/>
                </a:solidFill>
                <a:latin typeface="Pretendard"/>
              </a:rPr>
              <a:t>✅ 원본 일치       ❌ 해시 불일치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40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7280"/>
                </a:solidFill>
                <a:latin typeface="Pretendard"/>
              </a:rPr>
              <a:t>브라우저 전환 → proofolio.pages.dev/verify/{ID}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943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Pretendard"/>
              </a:rPr>
              <a:t>파일 A 업로드 → ✅    파일 B 업로드 → ❌    Etherscan 링크 확인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04 · ARCHITECTURE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B1220"/>
                </a:solidFill>
                <a:latin typeface="Pretendard"/>
              </a:rPr>
              <a:t>단순한 데모가 아닙니다.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9728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60000"/>
              </a:lnSpc>
            </a:pPr>
            <a:r>
              <a:rPr sz="1700" b="0">
                <a:solidFill>
                  <a:srgbClr val="3F4757"/>
                </a:solidFill>
                <a:latin typeface="Pretendard"/>
              </a:rPr>
              <a:t>발급기관    →    블록체인에 영구 기록    →    보유자 지갑</a:t>
            </a:r>
          </a:p>
          <a:p>
            <a:pPr algn="ctr">
              <a:lnSpc>
                <a:spcPct val="160000"/>
              </a:lnSpc>
            </a:pPr>
            <a:r>
              <a:rPr sz="1700" b="0">
                <a:solidFill>
                  <a:srgbClr val="3F4757"/>
                </a:solidFill>
                <a:latin typeface="Pretendard"/>
              </a:rPr>
              <a:t/>
            </a:r>
          </a:p>
          <a:p>
            <a:pPr algn="ctr">
              <a:lnSpc>
                <a:spcPct val="160000"/>
              </a:lnSpc>
            </a:pPr>
            <a:r>
              <a:rPr sz="1700" b="0">
                <a:solidFill>
                  <a:srgbClr val="3F4757"/>
                </a:solidFill>
                <a:latin typeface="Pretendard"/>
              </a:rPr>
              <a:t>                              ↑</a:t>
            </a:r>
          </a:p>
          <a:p>
            <a:pPr algn="ctr">
              <a:lnSpc>
                <a:spcPct val="160000"/>
              </a:lnSpc>
            </a:pPr>
            <a:r>
              <a:rPr sz="1700" b="0">
                <a:solidFill>
                  <a:srgbClr val="3F4757"/>
                </a:solidFill>
                <a:latin typeface="Pretendard"/>
              </a:rPr>
              <a:t>             검증자가 지갑 없이도 누구나 진위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892040"/>
            <a:ext cx="10698480" cy="8000"/>
          </a:xfrm>
          <a:prstGeom prst="rect">
            <a:avLst/>
          </a:prstGeom>
          <a:solidFill>
            <a:srgbClr val="E6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0B1220"/>
                </a:solidFill>
                <a:latin typeface="Pretendard"/>
              </a:rPr>
              <a:t>·  증명서는 양도가 불가능한 형태로 발급 — 사고팔 수 없음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0B1220"/>
                </a:solidFill>
                <a:latin typeface="Pretendard"/>
              </a:rPr>
              <a:t>·  자동 테스트 17개로 정상 · 비정상 · 공격 시나리오까지 검증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0B1220"/>
                </a:solidFill>
                <a:latin typeface="Pretendard"/>
              </a:rPr>
              <a:t>·  코드를 Etherscan에 공개 — 저희를 안 믿어도 코드는 검증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0B1220"/>
                </a:solidFill>
                <a:latin typeface="Pretendard"/>
              </a:rPr>
              <a:t>·  한 가지 한계 — '기관이 발급했다'는 보장하지만 '기관이 좋은가'는 별도 검토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05 · VIBE CODING · 노하우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B1220"/>
                </a:solidFill>
                <a:latin typeface="Pretendard"/>
              </a:rPr>
              <a:t>AI로 어떻게 만들었나.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59669"/>
                </a:solidFill>
                <a:latin typeface="Pretendard"/>
              </a:rPr>
              <a:t>01  문서 먼저, 코드 나중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PRD / SRS 1000줄을 AI와 같이 작성. AGENTS.md 로 규칙 박제.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59669"/>
                </a:solidFill>
                <a:latin typeface="Pretendard"/>
              </a:rPr>
              <a:t>02  Phase로 잘게 (10단계)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94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단계마다 검증·커밋·1줄 회고. 커밋 히스토리가 곧 워크플로 증거.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59669"/>
                </a:solidFill>
                <a:latin typeface="Pretendard"/>
              </a:rPr>
              <a:t>03  AI 코드 ≠ 신뢰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Hardhat 테스트 통과해야 신뢰. 실제로 AI deploy 스크립트 버그 잡아냄.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59669"/>
                </a:solidFill>
                <a:latin typeface="Pretendard"/>
              </a:rPr>
              <a:t>04  토큰 분업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15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기획·디자인·보안 리뷰 = Opus / 반복 구현 = Codex.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63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7280"/>
                </a:solidFill>
                <a:latin typeface="Pretendard"/>
              </a:rPr>
              <a:t>AI는 빠른 손, 사람은 기준과 검증.   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